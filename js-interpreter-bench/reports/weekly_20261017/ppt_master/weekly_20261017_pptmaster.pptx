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周先用同一小程序对照字节码，再分析未修改的Richards；这里是零到4095的求和，返回8386560，整数未溢出。QuickJS的add_loc直接更新局部sum并弹栈，inc_loc更新i；Ignition通过累加器运算和虚拟槽写回，Mov复制旧sum，Star0才写新sum，虚拟槽不是CPU寄存器。每完整调用的中位时间是43.782和54.839微秒，比值1.253，每次含4096轮，每引擎30个新进程，首次调用计入且没有计时前workload预跑。证据来自S1的源码、实际dump和正式样本；本例QuickJS更快，但条数、字节数或栈式组织本身不是已经证明的原因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四组累加i加3，返回8398848，不是上一页单纯求和；时间单位是每完整目标调用的微秒，含4096轮和摊薄driver，四组共240个正式样本。直接计算、普通调用、own方法、prototype方法的QJS/V8中位时间依次是67.132/60.388、159.969/116.395、217.156/120.905、225.086/125.348，比值依次为0.900、0.728、0.557、0.557。own与prototype共享同一循环和stepMethod，只在计时外改变对象建立方式，方法读取仍在循环内，因此多一层原型不足以解释这组跨引擎差距。普通调用显式传obj和x，方法调用传receiver和x，shape和反馈也可能变化，组间不能相减称为纯调用或纯查找成本；来源是S2原案例与正式记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ichards模拟任务调度，Scheduler的currentTcb指向TCB，TCB的task指向具体任务；schedule中this是Scheduler，进入TCB.run后this变成TCB，取得对象、读run和执行run是不同步骤。三次插桩诊断共有5393个内部样本，其中1229个查找区域样本已映射，按属性聚合的currentTcb、state和两处run分别是280、204和79，占这个分母的22.8%、16.6%和6.4%，包含多个读写位置。分母不是全程序耗时，普通状态字段值得继续看，但尚未找到总体瓶颈。189个活跃opcode位置、N1/N2倍增核对、计数与采样分开只是方法说明，另有39次helper探查没有具体site；来源为S3和原始richards.j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定原TaskControlBlock.prototype.isHeldOrSuspended：先读this.state与STATE_HELD按位与并比较，左侧为真就短路，否则再次读取state与STATE_SUSPENDED比较，进入本函数后的this是当前TCB。QuickJS先push_this保存局部this，再get_field；Ignition的GetNamedProperty直接取得值，用Star0保存到虚拟槽，TestEqual加LogicalNot实现不等判断，并用JumpIfTrue短路。这里是非连续的真实指令摘录，QuickJS的push_0、dup和drop等省略了，完整序列在两页附录，不能把正文当作连续可执行序列。r0不是CPU物理寄存器，offset不是native PC，证据来自S3两引擎的最终dump，而不是性能拆分。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QuickJS原程序第一次state读取在offset3，每Run10671次，全为own普通数据属性命中，每次一次自身探查，结果为整数，原型命中与通用fallback均为零；自身命中仍涉及shape/hash、描述符检查、取值和receiver引用处理，整数state本身不做对象引用计数。V8同进程字节码和IC日志将offset0和19分别对到FBV0和4，均观察到状态码0到1以及相同receiver map 0x189b01023ef1。转换日志不是逐次命中记录，IC命中率仍UNKNOWN，机器码有map检查和字段读取路径不证明该site每次都走这条路径，精确源码/构建与制品的对应仍有缺口。QJS重复自身查找、V8可能复用稳定字段反馈是待验证解释，不是已证性能原因，也没有量出各步骤的时间；来源为S3计数、IC记录及实际反汇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周可以说快慢随操作改变，一层原型不足解释方法案例，原程序普通own字段提供了一个更具体的位置，但不能拼一个总体引擎排名。无信号N512小对照里冻结版和诊断开启版中位时间约1718与2223毫秒，相比高约29%，这是不同批次点估计，不是精确插桩成本。两次state读取频率为10671和10115次却只采到85和9个相关查找区域样本，而且请求1毫秒实际约10毫秒，采样相位和插桩会影响分布，不能当精确耗时排名。本周没有VM优化或方法外提A/B；想讨论的是下一步先验证V8该site实际快路径，还是先降低扰动复核分布，来源为S1/S2正式汇总和S3诊断记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原isHeldOrSuspended的完整QuickJS最终指令，共16条、29字节，局部0是this，栈深为2；省去的是源码注释和debug表，不是执行指令。可以在这里核对正文省略的push_0、dup、drop、第二次比较和return。它来自独立打印诊断构建，不能把这个诊断native代码或耗时当作冻结Release版的性能，静态条数和编码长度也不是执行时间。证据路径相对js-interpreter-bench为experiments/richards_site_attribution/attempt01/bytecode/quickjs/TaskControlBlock.prototype.isHeldOrSuspended.txt及decoded.json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同一原函数在当前d8的完整Ignition最终指令，共14条、31字节，只有一个虚拟寄存器，frame为8字节；去掉了左侧地址、编码与调试列，指令和操作数保留完整。两个GetNamedProperty使用不同反馈槽，实际跳转地址只与同一进程日志对应，不拿它和另一个进程的ASLR地址比较。QJS16条29字节、V8十四条31字节，条数、长度和native分发次数不是同一指标，更不等于成本。S1是experiments/bytecode_whitebox_simple/attempt01，S2是experiments/call_path_followup/attempt01，S3是experiments/richards_site_attribution/attempt01，完整来源索引还保留在报告根目录notes.md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quickj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10/17/2026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eekly_quickj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10/17/2026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348798" cy="528066"/>
            <a:chOff x="443484" y="288925"/>
            <a:chExt cx="634879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3487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QuickJS与V8：字节码和属性访问分析</a:t>
              </a:r>
            </a:p>
          </p:txBody>
        </p:sp>
      </p:grpSp>
      <p:grpSp>
        <p:nvGrpSpPr>
          <p:cNvPr id="6" name="intro"/>
          <p:cNvGrpSpPr/>
          <p:nvPr/>
        </p:nvGrpSpPr>
        <p:grpSpPr>
          <a:xfrm>
            <a:off x="447294" y="936625"/>
            <a:ext cx="6408419" cy="603631"/>
            <a:chOff x="447294" y="936625"/>
            <a:chExt cx="6408419" cy="603631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36625"/>
              <a:ext cx="6406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马云霄｜截至2026-10-17：本周做小程序对照与原 Richards 属性分析。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7294" y="11588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先看同一轮求和怎样执行</a:t>
              </a:r>
            </a:p>
          </p:txBody>
        </p:sp>
      </p:grpSp>
      <p:grpSp>
        <p:nvGrpSpPr>
          <p:cNvPr id="11" name="source"/>
          <p:cNvGrpSpPr/>
          <p:nvPr/>
        </p:nvGrpSpPr>
        <p:grpSpPr>
          <a:xfrm>
            <a:off x="447294" y="1701800"/>
            <a:ext cx="2846451" cy="3071495"/>
            <a:chOff x="447294" y="1701800"/>
            <a:chExt cx="2846451" cy="3071495"/>
          </a:xfrm>
        </p:grpSpPr>
        <p:sp>
          <p:nvSpPr>
            <p:cNvPr id="7" name="TextBox 7"/>
            <p:cNvSpPr txBox="1"/>
            <p:nvPr/>
          </p:nvSpPr>
          <p:spPr>
            <a:xfrm>
              <a:off x="447294" y="1701800"/>
              <a:ext cx="196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 JavaScript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2143125"/>
              <a:ext cx="2844165" cy="1836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wbNumericLoop(n)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var sum = 0;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for (var i=0; i&lt;n; i++)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  sum += i;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}</a:t>
              </a:r>
              <a:b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return sum;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4165600"/>
              <a:ext cx="2288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n=4096；返回8386560。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580" y="4479925"/>
              <a:ext cx="2326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整数结果，未溢出 int32。</a:t>
              </a:r>
            </a:p>
          </p:txBody>
        </p:sp>
      </p:grpSp>
      <p:grpSp>
        <p:nvGrpSpPr>
          <p:cNvPr id="15" name="qjs"/>
          <p:cNvGrpSpPr/>
          <p:nvPr/>
        </p:nvGrpSpPr>
        <p:grpSpPr>
          <a:xfrm>
            <a:off x="3647694" y="1701800"/>
            <a:ext cx="2050199" cy="2414270"/>
            <a:chOff x="3647694" y="1701800"/>
            <a:chExt cx="2050199" cy="2414270"/>
          </a:xfrm>
        </p:grpSpPr>
        <p:sp>
          <p:nvSpPr>
            <p:cNvPr id="12" name="TextBox 12"/>
            <p:cNvSpPr txBox="1"/>
            <p:nvPr/>
          </p:nvSpPr>
          <p:spPr>
            <a:xfrm>
              <a:off x="3647694" y="1701800"/>
              <a:ext cx="16955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 摘录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9980" y="2143125"/>
              <a:ext cx="1482090" cy="10648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get_loc1 1: i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add_loc 0: sum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inc_loc 1: i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goto8 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49980" y="3536950"/>
              <a:ext cx="204791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add_loc 更新局部sum，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并弹栈；inc_loc 更新i。</a:t>
              </a:r>
            </a:p>
          </p:txBody>
        </p:sp>
      </p:grpSp>
      <p:grpSp>
        <p:nvGrpSpPr>
          <p:cNvPr id="19" name="v8"/>
          <p:cNvGrpSpPr/>
          <p:nvPr/>
        </p:nvGrpSpPr>
        <p:grpSpPr>
          <a:xfrm>
            <a:off x="6562344" y="1701800"/>
            <a:ext cx="4497357" cy="3071495"/>
            <a:chOff x="6562344" y="1701800"/>
            <a:chExt cx="4497357" cy="3071495"/>
          </a:xfrm>
        </p:grpSpPr>
        <p:sp>
          <p:nvSpPr>
            <p:cNvPr id="16" name="TextBox 16"/>
            <p:cNvSpPr txBox="1"/>
            <p:nvPr/>
          </p:nvSpPr>
          <p:spPr>
            <a:xfrm>
              <a:off x="6562344" y="1701800"/>
              <a:ext cx="19771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 Ignition 摘录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4630" y="2143125"/>
              <a:ext cx="3158490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Ldar 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Mov r0, r2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Ldar 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Inc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Star1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JumpLoop [21], [0], FBV[0]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4630" y="4479925"/>
              <a:ext cx="4495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r0=sum，r1=i；Mov复制旧sum，Star0写新sum。</a:t>
              </a:r>
            </a:p>
          </p:txBody>
        </p:sp>
      </p:grpSp>
      <p:grpSp>
        <p:nvGrpSpPr>
          <p:cNvPr id="24" name="measurement"/>
          <p:cNvGrpSpPr/>
          <p:nvPr/>
        </p:nvGrpSpPr>
        <p:grpSpPr>
          <a:xfrm>
            <a:off x="447294" y="5029200"/>
            <a:ext cx="11287506" cy="991870"/>
            <a:chOff x="447294" y="5029200"/>
            <a:chExt cx="11287506" cy="991870"/>
          </a:xfrm>
        </p:grpSpPr>
        <p:sp>
          <p:nvSpPr>
            <p:cNvPr id="20" name="Line 20"/>
            <p:cNvSpPr/>
            <p:nvPr/>
          </p:nvSpPr>
          <p:spPr>
            <a:xfrm>
              <a:off x="457200" y="5029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7294" y="5102225"/>
              <a:ext cx="82806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Median（µs/完整调用）：QJS 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43.782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；V8 54.839；V8/QJS 1.253。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580" y="5461000"/>
              <a:ext cx="5783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每调用含4096轮；每引擎30个新进程。虚拟槽不是CPU寄存器。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9580" y="5727700"/>
              <a:ext cx="6544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本例QJS更快；指令条数/字节数不等于成本，也不能据此断言栈式更优。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5" name="Line 25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1866" y="6159500"/>
              <a:ext cx="5296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来源：S1 numeric_loop.js、真实dump、summary.csv。S1/S2/S3完整路径见讲稿。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866" y="6521450"/>
              <a:ext cx="5240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内部单调计时包含首次调用；无计时前workload预跑。点估计，不是单条指令成本。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933438" cy="528066"/>
            <a:chOff x="443484" y="288925"/>
            <a:chExt cx="693343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四组调用方式：一层原型够不够解释差距？</a:t>
              </a:r>
            </a:p>
          </p:txBody>
        </p:sp>
      </p:grpSp>
      <p:grpSp>
        <p:nvGrpSpPr>
          <p:cNvPr id="5" name="input"/>
          <p:cNvGrpSpPr/>
          <p:nvPr/>
        </p:nvGrpSpPr>
        <p:grpSpPr>
          <a:xfrm>
            <a:off x="448056" y="965200"/>
            <a:ext cx="6543761" cy="352044"/>
            <a:chOff x="448056" y="965200"/>
            <a:chExt cx="6543761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448056" y="965200"/>
              <a:ext cx="65437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共同计算：i=0..4095，bias=3，累加 i+bias，结果8398848。</a:t>
              </a:r>
            </a:p>
          </p:txBody>
        </p:sp>
      </p:grpSp>
      <p:graphicFrame>
        <p:nvGraphicFramePr>
          <p:cNvPr id="6" name="call-timings"/>
          <p:cNvGraphicFramePr>
            <a:graphicFrameLocks noGrp="1"/>
          </p:cNvGraphicFramePr>
          <p:nvPr/>
        </p:nvGraphicFramePr>
        <p:xfrm>
          <a:off x="457200" y="1476375"/>
          <a:ext cx="11277600" cy="23812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组别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循环中的主要表达式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QJS / µs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V8 / µs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V8/QJS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直接计算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i + obj.bias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67.132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60.388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0.900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普通调用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stepPlain(obj,i)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159.969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116.395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0.728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own 方法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obj.step(i)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217.156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120.905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0.557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prototype 方法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sum += </a:t>
                      </a:r>
                      <a:r>
                        <a:rPr lang="en-US" sz="1650" b="0" dirty="0" err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obj.step</a:t>
                      </a:r>
                      <a:r>
                        <a:rPr lang="en-US" sz="1650" b="0" dirty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(</a:t>
                      </a:r>
                      <a:r>
                        <a:rPr lang="en-US" sz="1650" b="0" dirty="0" err="1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i</a:t>
                      </a:r>
                      <a:r>
                        <a:rPr lang="en-US" sz="1650" b="0" dirty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)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225.086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125.348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 dirty="0">
                          <a:solidFill>
                            <a:schemeClr val="dk1"/>
                          </a:solidFill>
                          <a:latin typeface="Consolas"/>
                          <a:ea typeface="Microsoft YaHei"/>
                          <a:cs typeface="Consolas"/>
                        </a:rPr>
                        <a:t>0.557</a:t>
                      </a:r>
                    </a:p>
                  </a:txBody>
                  <a:tcPr marL="114300" marR="114300"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units"/>
          <p:cNvGrpSpPr/>
          <p:nvPr/>
        </p:nvGrpSpPr>
        <p:grpSpPr>
          <a:xfrm>
            <a:off x="449580" y="4003675"/>
            <a:ext cx="8266181" cy="293370"/>
            <a:chOff x="449580" y="4003675"/>
            <a:chExt cx="826618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449580" y="4003675"/>
              <a:ext cx="8266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中位时间：µs/完整目标调用，含4096轮及摊薄driver；每组每引擎30个新进程，共240样本。</a:t>
              </a:r>
            </a:p>
          </p:txBody>
        </p:sp>
      </p:grpSp>
      <p:grpSp>
        <p:nvGrpSpPr>
          <p:cNvPr id="10" name="callee"/>
          <p:cNvGrpSpPr/>
          <p:nvPr/>
        </p:nvGrpSpPr>
        <p:grpSpPr>
          <a:xfrm>
            <a:off x="449580" y="4498975"/>
            <a:ext cx="2948940" cy="1483995"/>
            <a:chOff x="449580" y="4498975"/>
            <a:chExt cx="2948940" cy="1483995"/>
          </a:xfrm>
        </p:grpSpPr>
        <p:sp>
          <p:nvSpPr>
            <p:cNvPr id="9" name="TextBox 9"/>
            <p:cNvSpPr txBox="1"/>
            <p:nvPr/>
          </p:nvSpPr>
          <p:spPr>
            <a:xfrm>
              <a:off x="449580" y="4498975"/>
              <a:ext cx="2948940" cy="1483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stepPlain(obj, x)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return x + obj.bias;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  <a:b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function stepMethod(x) {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 return x + this.bias;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3" name="interpretation"/>
          <p:cNvGrpSpPr/>
          <p:nvPr/>
        </p:nvGrpSpPr>
        <p:grpSpPr>
          <a:xfrm>
            <a:off x="6086856" y="4498975"/>
            <a:ext cx="4207764" cy="1430020"/>
            <a:chOff x="6086856" y="4498975"/>
            <a:chExt cx="4207764" cy="1430020"/>
          </a:xfrm>
        </p:grpSpPr>
        <p:sp>
          <p:nvSpPr>
            <p:cNvPr id="11" name="TextBox 11"/>
            <p:cNvSpPr txBox="1"/>
            <p:nvPr/>
          </p:nvSpPr>
          <p:spPr>
            <a:xfrm>
              <a:off x="6086856" y="4498975"/>
              <a:ext cx="3505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own/prototype比值都约0.557。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8380" y="4835525"/>
              <a:ext cx="4206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同一循环和方法，只在计时外改变对象建立方式。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一层原型不足以解释差距；参数、receiver、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shape/反馈也会变，不能相减当纯调用成本。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本页含obj.bias和两次加法，不是第1页求和。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4" name="Line 14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1866" y="6159500"/>
              <a:ext cx="6289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来源：S2 四组cases、summary.csv、raw/timing.csv。对象建立在计时外，方法读取保留在循环内。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866" y="6521450"/>
              <a:ext cx="5240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内部单调计时包含首次调用；无计时前workload预跑。点估计，不是单次操作成本。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/ 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784212" cy="528066"/>
            <a:chOff x="443484" y="288925"/>
            <a:chExt cx="678421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7842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 Richards：查找区域样本落在哪里？</a:t>
              </a:r>
            </a:p>
          </p:txBody>
        </p:sp>
      </p:grpSp>
      <p:grpSp>
        <p:nvGrpSpPr>
          <p:cNvPr id="5" name="intro"/>
          <p:cNvGrpSpPr/>
          <p:nvPr/>
        </p:nvGrpSpPr>
        <p:grpSpPr>
          <a:xfrm>
            <a:off x="448056" y="917575"/>
            <a:ext cx="4692701" cy="694944"/>
            <a:chOff x="448056" y="917575"/>
            <a:chExt cx="4692701" cy="694944"/>
          </a:xfrm>
        </p:grpSpPr>
        <p:sp>
          <p:nvSpPr>
            <p:cNvPr id="4" name="TextBox 4"/>
            <p:cNvSpPr txBox="1"/>
            <p:nvPr/>
          </p:nvSpPr>
          <p:spPr>
            <a:xfrm>
              <a:off x="448056" y="917575"/>
              <a:ext cx="4692701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Richards 是模拟任务调度的 JavaScript 基准。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本轮使用未修改的原算法、方法读取和断言。</a:t>
              </a:r>
            </a:p>
          </p:txBody>
        </p:sp>
      </p:grpSp>
      <p:grpSp>
        <p:nvGrpSpPr>
          <p:cNvPr id="13" name="original-code"/>
          <p:cNvGrpSpPr/>
          <p:nvPr/>
        </p:nvGrpSpPr>
        <p:grpSpPr>
          <a:xfrm>
            <a:off x="447294" y="1892300"/>
            <a:ext cx="4476209" cy="2998470"/>
            <a:chOff x="447294" y="1892300"/>
            <a:chExt cx="4476209" cy="2998470"/>
          </a:xfrm>
        </p:grpSpPr>
        <p:sp>
          <p:nvSpPr>
            <p:cNvPr id="6" name="TextBox 6"/>
            <p:cNvSpPr txBox="1"/>
            <p:nvPr/>
          </p:nvSpPr>
          <p:spPr>
            <a:xfrm>
              <a:off x="447294" y="1892300"/>
              <a:ext cx="3106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Scheduler.schedule 摘录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9580" y="2270125"/>
              <a:ext cx="2220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此处 this 是 Scheduler。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2622550"/>
              <a:ext cx="4473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this.currentTcb = this.currentTcb.run();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7294" y="3149600"/>
              <a:ext cx="33850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TaskControlBlock.run 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580" y="3527425"/>
              <a:ext cx="3092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进入此函数后，this 是当前 TCB。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3879850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return this.task.run(packet);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9580" y="4330700"/>
              <a:ext cx="404793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currentTcb 指向TCB；TCB.task指向具体任务。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取得对象、读方法、调用函数不是同一步。</a:t>
              </a:r>
            </a:p>
          </p:txBody>
        </p:sp>
      </p:grpSp>
      <p:graphicFrame>
        <p:nvGraphicFramePr>
          <p:cNvPr id="14" name="lookup-samples"/>
          <p:cNvGraphicFramePr>
            <a:graphicFrameLocks noGrp="1"/>
          </p:cNvGraphicFramePr>
          <p:nvPr/>
        </p:nvGraphicFramePr>
        <p:xfrm>
          <a:off x="7124700" y="1971675"/>
          <a:ext cx="4610100" cy="198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属性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样本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占1229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currentTcb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280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22.8%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state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204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16.6%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两处run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79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6.4%</a:t>
                      </a:r>
                    </a:p>
                  </a:txBody>
                  <a:tcPr marL="114300" marR="114300" marT="87630" marB="87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denominator"/>
          <p:cNvGrpSpPr/>
          <p:nvPr/>
        </p:nvGrpSpPr>
        <p:grpSpPr>
          <a:xfrm>
            <a:off x="7117080" y="4165600"/>
            <a:ext cx="3021521" cy="845820"/>
            <a:chOff x="7117080" y="4165600"/>
            <a:chExt cx="3021521" cy="845820"/>
          </a:xfrm>
        </p:grpSpPr>
        <p:sp>
          <p:nvSpPr>
            <p:cNvPr id="15" name="TextBox 15"/>
            <p:cNvSpPr txBox="1"/>
            <p:nvPr/>
          </p:nvSpPr>
          <p:spPr>
            <a:xfrm>
              <a:off x="7117080" y="4165600"/>
              <a:ext cx="3021521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3个诊断进程，共5393个内部样本；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1229个查找区域样本已映射。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按属性聚合，包含多个读/写位置。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448056" y="5289550"/>
            <a:ext cx="9037189" cy="674370"/>
            <a:chOff x="448056" y="5289550"/>
            <a:chExt cx="9037189" cy="674370"/>
          </a:xfrm>
        </p:grpSpPr>
        <p:sp>
          <p:nvSpPr>
            <p:cNvPr id="17" name="TextBox 17"/>
            <p:cNvSpPr txBox="1"/>
            <p:nvPr/>
          </p:nvSpPr>
          <p:spPr>
            <a:xfrm>
              <a:off x="448056" y="5289550"/>
              <a:ext cx="855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分母是1229，不是全程序耗时。普通状态字段值得继续看，尚未找到总体瓶颈。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580" y="5670550"/>
              <a:ext cx="9035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方法说明：189个活跃opcode位置；N1/N2倍增核对，计数/采样分开；另39次helper探查无具体site。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0" name="Line 2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6159500"/>
              <a:ext cx="5639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原richards.js、site_samples.csv、sampling_summary.json、count_audit.json。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866" y="6521450"/>
              <a:ext cx="3795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诊断数据，不作正式性能结果；采样占比不是精确self-time。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 / 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6812765" cy="528066"/>
            <a:chOff x="443484" y="288925"/>
            <a:chExt cx="681276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68127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选定 this.state：按源码语义分组读字节码</a:t>
              </a:r>
            </a:p>
          </p:txBody>
        </p:sp>
      </p:grpSp>
      <p:grpSp>
        <p:nvGrpSpPr>
          <p:cNvPr id="7" name="source"/>
          <p:cNvGrpSpPr/>
          <p:nvPr/>
        </p:nvGrpSpPr>
        <p:grpSpPr>
          <a:xfrm>
            <a:off x="449580" y="917575"/>
            <a:ext cx="8347305" cy="883920"/>
            <a:chOff x="449580" y="917575"/>
            <a:chExt cx="8347305" cy="8839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5258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原函数 TaskControlBlock.prototype.isHeldOrSuspended：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580" y="1203325"/>
              <a:ext cx="8347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return (this.state &amp; STATE_HELD) != 0 || (this.state == STATE_SUSPENDED);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9580" y="1508125"/>
              <a:ext cx="6024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调用者schedule的this是Scheduler；进入本函数后this是当前TCB。</a:t>
              </a:r>
            </a:p>
          </p:txBody>
        </p:sp>
      </p:grpSp>
      <p:grpSp>
        <p:nvGrpSpPr>
          <p:cNvPr id="13" name="qjs-bytecode"/>
          <p:cNvGrpSpPr/>
          <p:nvPr/>
        </p:nvGrpSpPr>
        <p:grpSpPr>
          <a:xfrm>
            <a:off x="447294" y="2025650"/>
            <a:ext cx="3642322" cy="3271520"/>
            <a:chOff x="447294" y="2025650"/>
            <a:chExt cx="3642322" cy="3271520"/>
          </a:xfrm>
        </p:grpSpPr>
        <p:sp>
          <p:nvSpPr>
            <p:cNvPr id="8" name="TextBox 8"/>
            <p:cNvSpPr txBox="1"/>
            <p:nvPr/>
          </p:nvSpPr>
          <p:spPr>
            <a:xfrm>
              <a:off x="447294" y="2025650"/>
              <a:ext cx="10958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QuickJS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2451100"/>
              <a:ext cx="2529840" cy="2607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push_this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1 put_loc0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2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3 get_field state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8 get_var 0: STATE_HELD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and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neq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 if_true8 28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18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get_field state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5180" y="2914650"/>
              <a:ext cx="61874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①取this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5180" y="3990975"/>
              <a:ext cx="744436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②与/比较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短路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5180" y="500380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③再读取</a:t>
              </a:r>
            </a:p>
          </p:txBody>
        </p:sp>
      </p:grpSp>
      <p:grpSp>
        <p:nvGrpSpPr>
          <p:cNvPr id="17" name="v8-bytecode"/>
          <p:cNvGrpSpPr/>
          <p:nvPr/>
        </p:nvGrpSpPr>
        <p:grpSpPr>
          <a:xfrm>
            <a:off x="4885944" y="2025650"/>
            <a:ext cx="4941951" cy="3204845"/>
            <a:chOff x="4885944" y="2025650"/>
            <a:chExt cx="4941951" cy="3204845"/>
          </a:xfrm>
        </p:grpSpPr>
        <p:sp>
          <p:nvSpPr>
            <p:cNvPr id="14" name="TextBox 14"/>
            <p:cNvSpPr txBox="1"/>
            <p:nvPr/>
          </p:nvSpPr>
          <p:spPr>
            <a:xfrm>
              <a:off x="4885944" y="2025650"/>
              <a:ext cx="13782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 Ignition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88230" y="2451100"/>
              <a:ext cx="4939665" cy="2131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GetNamedProperty &lt;this&gt;, [0:"state"], FBV[0]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4 Star0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5 LdaGlobal [1:"STATE_HELD"], FBV[2]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8 BitwiseAnd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16 LogicalNot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JumpIfTrue [13] (0x1eef0100166e @ 30)</a:t>
              </a: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GetNamedProperty &lt;this&gt;, [0:"state"], FBV[4]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88230" y="4937125"/>
              <a:ext cx="4220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①offset 0–4；②5–17；③19。r0是虚拟frame槽。</a:t>
              </a:r>
            </a:p>
          </p:txBody>
        </p:sp>
      </p:grpSp>
      <p:grpSp>
        <p:nvGrpSpPr>
          <p:cNvPr id="19" name="reading-boundary"/>
          <p:cNvGrpSpPr/>
          <p:nvPr/>
        </p:nvGrpSpPr>
        <p:grpSpPr>
          <a:xfrm>
            <a:off x="449580" y="5641975"/>
            <a:ext cx="9116965" cy="293370"/>
            <a:chOff x="449580" y="5641975"/>
            <a:chExt cx="9116965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449580" y="5641975"/>
              <a:ext cx="9116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非连续真实摘录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，完整序列见附录；左侧为真会短路。offset不是native PC，虚拟槽不是CPU寄存器。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20" name="Line 2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6159500"/>
              <a:ext cx="5994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richards.js:309–311；两引擎 isHeldOrSuspended 的真实最终dump与decoded.json。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866" y="6521450"/>
              <a:ext cx="53748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诊断数据，不作正式性能结果；正文省略push_0、dup等，不能视为连续可执行序列。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4025646" cy="528066"/>
            <a:chOff x="443484" y="288925"/>
            <a:chExt cx="402564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这一处实际知道了什么？</a:t>
              </a:r>
            </a:p>
          </p:txBody>
        </p:sp>
      </p:grpSp>
      <p:grpSp>
        <p:nvGrpSpPr>
          <p:cNvPr id="9" name="qjs-evidence"/>
          <p:cNvGrpSpPr/>
          <p:nvPr/>
        </p:nvGrpSpPr>
        <p:grpSpPr>
          <a:xfrm>
            <a:off x="447294" y="1130300"/>
            <a:ext cx="4363776" cy="3785870"/>
            <a:chOff x="447294" y="1130300"/>
            <a:chExt cx="4363776" cy="3785870"/>
          </a:xfrm>
        </p:grpSpPr>
        <p:sp>
          <p:nvSpPr>
            <p:cNvPr id="4" name="TextBox 4"/>
            <p:cNvSpPr txBox="1"/>
            <p:nvPr/>
          </p:nvSpPr>
          <p:spPr>
            <a:xfrm>
              <a:off x="447294" y="1130300"/>
              <a:ext cx="39587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QJS：第一次state读取，offset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8056" y="1593850"/>
              <a:ext cx="4363014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Run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10671次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，全部own数据属性命中。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每次一次自身探查；结果为整数。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2498725"/>
              <a:ext cx="2940025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原型命中0；通用fallback 0。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不等于这次读取没有成本。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403600"/>
              <a:ext cx="3715024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仍有shape/hash查找、描述符检查、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取值及必要的receiver引用处理。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4346575"/>
              <a:ext cx="297881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整数state本身不做对象引用计数；</a:t>
              </a:r>
              <a:b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不要把receiver与字段值混为一谈。</a:t>
              </a:r>
            </a:p>
          </p:txBody>
        </p:sp>
      </p:grpSp>
      <p:grpSp>
        <p:nvGrpSpPr>
          <p:cNvPr id="14" name="v8-evidence"/>
          <p:cNvGrpSpPr/>
          <p:nvPr/>
        </p:nvGrpSpPr>
        <p:grpSpPr>
          <a:xfrm>
            <a:off x="6190869" y="1130300"/>
            <a:ext cx="3892768" cy="3795395"/>
            <a:chOff x="6190869" y="1130300"/>
            <a:chExt cx="3892768" cy="3795395"/>
          </a:xfrm>
        </p:grpSpPr>
        <p:sp>
          <p:nvSpPr>
            <p:cNvPr id="10" name="TextBox 10"/>
            <p:cNvSpPr txBox="1"/>
            <p:nvPr/>
          </p:nvSpPr>
          <p:spPr>
            <a:xfrm>
              <a:off x="6190869" y="1130300"/>
              <a:ext cx="37865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V8：同进程字节码与IC转换日志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93155" y="1619250"/>
              <a:ext cx="29489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offset 0: FBV[0] 0 → 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offset 19: FBV[4] 0 → 1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receiver map: 0x189b01023ef1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91631" y="2755900"/>
              <a:ext cx="3892006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两处有独立反馈槽，观察到相同map。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转换日志不是逐次命中记录；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IC命中率仍 UNKNOWN。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93155" y="4079875"/>
              <a:ext cx="3116161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机器码有map检查/字段读取路径，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不证明该site每次走此路径。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精确源码/构建与制品对应仍有缺口。</a:t>
              </a:r>
            </a:p>
          </p:txBody>
        </p:sp>
      </p:grpSp>
      <p:grpSp>
        <p:nvGrpSpPr>
          <p:cNvPr id="18" name="hypothesis"/>
          <p:cNvGrpSpPr/>
          <p:nvPr/>
        </p:nvGrpSpPr>
        <p:grpSpPr>
          <a:xfrm>
            <a:off x="448056" y="5219700"/>
            <a:ext cx="11286744" cy="725170"/>
            <a:chOff x="448056" y="5219700"/>
            <a:chExt cx="11286744" cy="725170"/>
          </a:xfrm>
        </p:grpSpPr>
        <p:sp>
          <p:nvSpPr>
            <p:cNvPr id="15" name="Line 15"/>
            <p:cNvSpPr/>
            <p:nvPr/>
          </p:nvSpPr>
          <p:spPr>
            <a:xfrm>
              <a:off x="457200" y="521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8056" y="5289550"/>
              <a:ext cx="6644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待验证解释：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QJS重复自身查找；V8可能复用稳定字段反馈。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580" y="5651500"/>
              <a:ext cx="7598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目前不是已证明的性能原因；尚未测得各步骤的时间，也未证明该site的逐次快路径。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9" name="Line 19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1866" y="6159500"/>
              <a:ext cx="6233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counts_N1.sites.csv、v8_selected_IC_transitions.csv、实际GetNamedProperty反汇编。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66" y="6521450"/>
              <a:ext cx="5146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诊断数据，不作正式性能结果；状态转换与handler分支存在不等于逐次命中证据。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116068" cy="528066"/>
            <a:chOff x="443484" y="288925"/>
            <a:chExt cx="511606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本周能说什么，还有什么不懂？</a:t>
              </a:r>
            </a:p>
          </p:txBody>
        </p:sp>
      </p:grpSp>
      <p:grpSp>
        <p:nvGrpSpPr>
          <p:cNvPr id="6" name="conclusions"/>
          <p:cNvGrpSpPr/>
          <p:nvPr/>
        </p:nvGrpSpPr>
        <p:grpSpPr>
          <a:xfrm>
            <a:off x="447294" y="1044575"/>
            <a:ext cx="7220910" cy="1466469"/>
            <a:chOff x="447294" y="1044575"/>
            <a:chExt cx="7220910" cy="1466469"/>
          </a:xfrm>
        </p:grpSpPr>
        <p:sp>
          <p:nvSpPr>
            <p:cNvPr id="4" name="TextBox 4"/>
            <p:cNvSpPr txBox="1"/>
            <p:nvPr/>
          </p:nvSpPr>
          <p:spPr>
            <a:xfrm>
              <a:off x="447294" y="10445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目前能说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8056" y="1435100"/>
              <a:ext cx="722014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操作不同，快慢方向可能不同；不把小程序拼成总体引擎排名。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多一层原型不足以解释方法案例的跨引擎差距。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Richards 的普通own字段值得深入；已选出可具体分析的state位置。</a:t>
              </a:r>
            </a:p>
          </p:txBody>
        </p:sp>
      </p:grpSp>
      <p:grpSp>
        <p:nvGrpSpPr>
          <p:cNvPr id="12" name="limitations"/>
          <p:cNvGrpSpPr/>
          <p:nvPr/>
        </p:nvGrpSpPr>
        <p:grpSpPr>
          <a:xfrm>
            <a:off x="447294" y="2882900"/>
            <a:ext cx="8481531" cy="1871345"/>
            <a:chOff x="447294" y="2882900"/>
            <a:chExt cx="8481531" cy="1871345"/>
          </a:xfrm>
        </p:grpSpPr>
        <p:sp>
          <p:nvSpPr>
            <p:cNvPr id="7" name="TextBox 7"/>
            <p:cNvSpPr txBox="1"/>
            <p:nvPr/>
          </p:nvSpPr>
          <p:spPr>
            <a:xfrm>
              <a:off x="447294" y="2882900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两个直接限制：诊断数据，不是正式性能结果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336925"/>
              <a:ext cx="84807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无信号N512小对照：冻结版median1718ms，诊断开启版2223ms，高约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" y="369887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不同批次的点估计，不是精确插桩成本；时间接近也不能证明没有扰动。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4108450"/>
              <a:ext cx="7002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两次state读取每Run为10671/10115次，查找区域样本却为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85/9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4460875"/>
              <a:ext cx="7150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请求1ms、实际约10ms；采样相位和插桩会影响分布，不能视为精确耗时排名。</a:t>
              </a:r>
            </a:p>
          </p:txBody>
        </p:sp>
      </p:grpSp>
      <p:grpSp>
        <p:nvGrpSpPr>
          <p:cNvPr id="16" name="discussion"/>
          <p:cNvGrpSpPr/>
          <p:nvPr/>
        </p:nvGrpSpPr>
        <p:grpSpPr>
          <a:xfrm>
            <a:off x="447294" y="5010150"/>
            <a:ext cx="11287506" cy="860044"/>
            <a:chOff x="447294" y="5010150"/>
            <a:chExt cx="11287506" cy="860044"/>
          </a:xfrm>
        </p:grpSpPr>
        <p:sp>
          <p:nvSpPr>
            <p:cNvPr id="13" name="Line 13"/>
            <p:cNvSpPr/>
            <p:nvPr/>
          </p:nvSpPr>
          <p:spPr>
            <a:xfrm>
              <a:off x="457200" y="501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294" y="51022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想与老师讨论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518150"/>
              <a:ext cx="8327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下一步先确认V8该位置的实际快路径，还是先降低采样扰动、复核位置分布？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7" name="Line 17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1866" y="6159500"/>
              <a:ext cx="5579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来源：S1/S2正式汇总；S3 perturbation.json、site_samples.csv、counts_N1.sites.csv。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866" y="6521450"/>
              <a:ext cx="4715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诊断数据，不作正式性能结果；本周未实现VM优化，未恢复方法外提A/B。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896338" cy="528066"/>
            <a:chOff x="443484" y="288925"/>
            <a:chExt cx="5896338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896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附录A：QuickJS 完整最终指令序列</a:t>
              </a:r>
            </a:p>
          </p:txBody>
        </p:sp>
      </p:grpSp>
      <p:grpSp>
        <p:nvGrpSpPr>
          <p:cNvPr id="5" name="identity"/>
          <p:cNvGrpSpPr/>
          <p:nvPr/>
        </p:nvGrpSpPr>
        <p:grpSpPr>
          <a:xfrm>
            <a:off x="449580" y="917575"/>
            <a:ext cx="7294550" cy="579120"/>
            <a:chOff x="449580" y="917575"/>
            <a:chExt cx="7294550" cy="5791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72945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TaskControlBlock.prototype.isHeldOrSuspended；16条/29B，局部0=this，栈深2。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补齐offset，保留全部指令和操作数；去掉源码注释与debug表。</a:t>
              </a:r>
            </a:p>
          </p:txBody>
        </p:sp>
      </p:grpSp>
      <p:grpSp>
        <p:nvGrpSpPr>
          <p:cNvPr id="7" name="complete-bytecode"/>
          <p:cNvGrpSpPr/>
          <p:nvPr/>
        </p:nvGrpSpPr>
        <p:grpSpPr>
          <a:xfrm>
            <a:off x="640080" y="1822450"/>
            <a:ext cx="3053715" cy="3865245"/>
            <a:chOff x="640080" y="1822450"/>
            <a:chExt cx="3053715" cy="3865245"/>
          </a:xfrm>
        </p:grpSpPr>
        <p:sp>
          <p:nvSpPr>
            <p:cNvPr id="6" name="TextBox 6"/>
            <p:cNvSpPr txBox="1"/>
            <p:nvPr/>
          </p:nvSpPr>
          <p:spPr>
            <a:xfrm>
              <a:off x="640080" y="1822450"/>
              <a:ext cx="3053715" cy="3865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push_this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1 put_loc0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2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3 get_field state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8 get_var 0: STATE_HELD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and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 push_0 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neq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 dup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 if_true8 28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drop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18 get_loc0 0: this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get_field state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24 get_var 1: STATE_SUSPENDED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27 eq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28 return</a:t>
              </a:r>
            </a:p>
          </p:txBody>
        </p:sp>
      </p:grpSp>
      <p:grpSp>
        <p:nvGrpSpPr>
          <p:cNvPr id="12" name="reading-note"/>
          <p:cNvGrpSpPr/>
          <p:nvPr/>
        </p:nvGrpSpPr>
        <p:grpSpPr>
          <a:xfrm>
            <a:off x="7229094" y="2063750"/>
            <a:ext cx="3436894" cy="3290570"/>
            <a:chOff x="7229094" y="2063750"/>
            <a:chExt cx="3436894" cy="3290570"/>
          </a:xfrm>
        </p:grpSpPr>
        <p:sp>
          <p:nvSpPr>
            <p:cNvPr id="8" name="TextBox 8"/>
            <p:cNvSpPr txBox="1"/>
            <p:nvPr/>
          </p:nvSpPr>
          <p:spPr>
            <a:xfrm>
              <a:off x="7229094" y="2063750"/>
              <a:ext cx="20033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与正文第4页核对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29856" y="2568575"/>
              <a:ext cx="3436132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push_0、dup、drop在正文省略；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完整序列在此保留。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29856" y="3683000"/>
              <a:ext cx="2914467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来自独立打印诊断构建。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不能把其native代码或耗时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视为冻结Release版的性能。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1380" y="50609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静态条数和编码长度不是执行时间。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3" name="Line 13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1866" y="6159500"/>
              <a:ext cx="6192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bytecode/quickjs/TaskControlBlock.prototype.isHeldOrSuspended.txt 与 decoded.json。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866" y="652145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诊断数据，不作正式性能结果；最终执行字节码，不是中间表示。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3484" y="288925"/>
            <a:ext cx="5725972" cy="528066"/>
            <a:chOff x="443484" y="288925"/>
            <a:chExt cx="572597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443484" y="288925"/>
              <a:ext cx="57259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附录B：Ignition 完整最终指令序列</a:t>
              </a:r>
            </a:p>
          </p:txBody>
        </p:sp>
      </p:grpSp>
      <p:grpSp>
        <p:nvGrpSpPr>
          <p:cNvPr id="5" name="identity"/>
          <p:cNvGrpSpPr/>
          <p:nvPr/>
        </p:nvGrpSpPr>
        <p:grpSpPr>
          <a:xfrm>
            <a:off x="449580" y="917575"/>
            <a:ext cx="7744282" cy="579120"/>
            <a:chOff x="449580" y="917575"/>
            <a:chExt cx="7744282" cy="57912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917575"/>
              <a:ext cx="77442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 TaskControlBlock.prototype.isHeldOrSuspended；14条/31B，虚拟寄存器1，frame 8B。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去掉左侧地址/编码/调试列；以下指令与操作数完整，保留实际jump目标地址。</a:t>
              </a:r>
            </a:p>
          </p:txBody>
        </p:sp>
      </p:grpSp>
      <p:grpSp>
        <p:nvGrpSpPr>
          <p:cNvPr id="7" name="complete-bytecode"/>
          <p:cNvGrpSpPr/>
          <p:nvPr/>
        </p:nvGrpSpPr>
        <p:grpSpPr>
          <a:xfrm>
            <a:off x="640080" y="1841500"/>
            <a:ext cx="4939665" cy="3388995"/>
            <a:chOff x="640080" y="1841500"/>
            <a:chExt cx="4939665" cy="3388995"/>
          </a:xfrm>
        </p:grpSpPr>
        <p:sp>
          <p:nvSpPr>
            <p:cNvPr id="6" name="TextBox 6"/>
            <p:cNvSpPr txBox="1"/>
            <p:nvPr/>
          </p:nvSpPr>
          <p:spPr>
            <a:xfrm>
              <a:off x="640080" y="1841500"/>
              <a:ext cx="4939665" cy="3388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GetNamedProperty &lt;this&gt;, [0:"state"], FBV[0]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4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5 LdaGlobal [1:"STATE_HELD"], FBV[2]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 8 BitwiseAnd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 LdaZero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16 LogicalNot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17 JumpIfTrue [13] (0x1eef0100166e @ 30)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19 GetNamedProperty &lt;this&gt;, [0:"state"], FBV[4]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23 Star0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24 LdaGlobal [2:"STATE_SUSPENDED"], FBV[6]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27 TestEqual r0, EmbeddedFeedback[None]</a:t>
              </a:r>
              <a:b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 Return</a:t>
              </a:r>
            </a:p>
          </p:txBody>
        </p:sp>
      </p:grpSp>
      <p:grpSp>
        <p:nvGrpSpPr>
          <p:cNvPr id="9" name="boundary"/>
          <p:cNvGrpSpPr/>
          <p:nvPr/>
        </p:nvGrpSpPr>
        <p:grpSpPr>
          <a:xfrm>
            <a:off x="449580" y="5641975"/>
            <a:ext cx="9162869" cy="293370"/>
            <a:chOff x="449580" y="5641975"/>
            <a:chExt cx="916286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449580" y="5641975"/>
              <a:ext cx="916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QJS 16条/29B，V8 14条/31B：条数、编码长度与native分发次数不是同一指标，也不等于执行成本。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451866" y="6105525"/>
            <a:ext cx="11288268" cy="621284"/>
            <a:chOff x="451866" y="6105525"/>
            <a:chExt cx="11288268" cy="621284"/>
          </a:xfrm>
        </p:grpSpPr>
        <p:sp>
          <p:nvSpPr>
            <p:cNvPr id="10" name="Line 10"/>
            <p:cNvSpPr/>
            <p:nvPr/>
          </p:nvSpPr>
          <p:spPr>
            <a:xfrm>
              <a:off x="457200" y="61055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1866" y="6159500"/>
              <a:ext cx="6421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来源：S3 bytecode/v8/TaskControlBlock.isHeldOrSuspended.txt 与 decoded.json；IC见同进程日志。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1866" y="6340475"/>
              <a:ext cx="631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WSL2 Ubuntu24.04.2/x86_64；QuickJS 2026-06-04；V8 15.6.21（d8）；--max-opt=0 --no-lazy。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1866" y="6521450"/>
              <a:ext cx="4268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诊断数据，不作正式性能结果；r0是虚拟槽，不是CPU物理寄存器。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4425" y="6159500"/>
              <a:ext cx="285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eekly_quickjs">
  <a:themeElements>
    <a:clrScheme name="weekly_quickjs">
      <a:dk1>
        <a:srgbClr val="111111"/>
      </a:dk1>
      <a:lt1>
        <a:srgbClr val="FFFFFF"/>
      </a:lt1>
      <a:dk2>
        <a:srgbClr val="1F497D"/>
      </a:dk2>
      <a:lt2>
        <a:srgbClr val="F4F5F6"/>
      </a:lt2>
      <a:accent1>
        <a:srgbClr val="111111"/>
      </a:accent1>
      <a:accent2>
        <a:srgbClr val="111111"/>
      </a:accent2>
      <a:accent3>
        <a:srgbClr val="555555"/>
      </a:accent3>
      <a:accent4>
        <a:srgbClr val="111111"/>
      </a:accent4>
      <a:accent5>
        <a:srgbClr val="555555"/>
      </a:accent5>
      <a:accent6>
        <a:srgbClr val="B9BDC3"/>
      </a:accent6>
      <a:hlink>
        <a:srgbClr val="111111"/>
      </a:hlink>
      <a:folHlink>
        <a:srgbClr val="555555"/>
      </a:folHlink>
    </a:clrScheme>
    <a:fontScheme name="weekly_quickj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quickj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ekly_quickjs">
  <a:themeElements>
    <a:clrScheme name="weekly_quickjs">
      <a:dk1>
        <a:srgbClr val="111111"/>
      </a:dk1>
      <a:lt1>
        <a:srgbClr val="FFFFFF"/>
      </a:lt1>
      <a:dk2>
        <a:srgbClr val="1F497D"/>
      </a:dk2>
      <a:lt2>
        <a:srgbClr val="F4F5F6"/>
      </a:lt2>
      <a:accent1>
        <a:srgbClr val="111111"/>
      </a:accent1>
      <a:accent2>
        <a:srgbClr val="111111"/>
      </a:accent2>
      <a:accent3>
        <a:srgbClr val="555555"/>
      </a:accent3>
      <a:accent4>
        <a:srgbClr val="111111"/>
      </a:accent4>
      <a:accent5>
        <a:srgbClr val="555555"/>
      </a:accent5>
      <a:accent6>
        <a:srgbClr val="B9BDC3"/>
      </a:accent6>
      <a:hlink>
        <a:srgbClr val="111111"/>
      </a:hlink>
      <a:folHlink>
        <a:srgbClr val="555555"/>
      </a:folHlink>
    </a:clrScheme>
    <a:fontScheme name="weekly_quickj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quickj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3889</Words>
  <Application>Microsoft Office PowerPoint</Application>
  <PresentationFormat>宽屏</PresentationFormat>
  <Paragraphs>161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Consolas</vt:lpstr>
      <vt:lpstr>weekly_quickjs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Samuel Cloud</cp:lastModifiedBy>
  <cp:revision>6</cp:revision>
  <dcterms:created xsi:type="dcterms:W3CDTF">2026-10-17T11:00:46Z</dcterms:created>
  <dcterms:modified xsi:type="dcterms:W3CDTF">2026-10-17T12:47:18Z</dcterms:modified>
  <cp:category/>
  <cp:contentStatus/>
  <dc:language>zh-CN</dc:language>
</cp:coreProperties>
</file>